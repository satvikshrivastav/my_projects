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/>
              <a:t>MNIST Handwritten Digit
Classification</a:t>
            </a:r>
          </a:p>
          <a:p>
            <a:pPr algn="ctr"/>
            <a:r>
              <a:rPr sz="2500"/>
              <a:t>Using a Neural Network</a:t>
            </a:r>
          </a:p>
          <a:p>
            <a:pPr algn="ctr"/>
            <a:r>
              <a:rPr sz="1600"/>
              <a:t>Python • TensorFlow/Keras • OpenCV</a:t>
            </a:r>
          </a:p>
        </p:txBody>
      </p:sp>
      <p:pic>
        <p:nvPicPr>
          <p:cNvPr id="3" name="Picture 2" descr="3-dig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3886200"/>
            <a:ext cx="1846273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Classify handwritten digit images into one of 10 classes: 0–9.</a:t>
            </a:r>
          </a:p>
          <a:p>
            <a:pPr>
              <a:spcAft>
                <a:spcPts val="1000"/>
              </a:spcAft>
              <a:defRPr sz="2200"/>
            </a:pPr>
            <a:r>
              <a:t>• Learn digit patterns from the MNIST training set.</a:t>
            </a:r>
          </a:p>
          <a:p>
            <a:pPr>
              <a:spcAft>
                <a:spcPts val="1000"/>
              </a:spcAft>
              <a:defRPr sz="2200"/>
            </a:pPr>
            <a:r>
              <a:t>• Evaluate the trained model on unseen test images.</a:t>
            </a:r>
          </a:p>
          <a:p>
            <a:pPr>
              <a:spcAft>
                <a:spcPts val="1000"/>
              </a:spcAft>
              <a:defRPr sz="2200"/>
            </a:pPr>
            <a:r>
              <a:t>• Provide a simple predictive system for a new image.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Dataset &amp;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• 60,000 training images and 10,000 test images.</a:t>
            </a:r>
          </a:p>
          <a:p>
            <a:pPr>
              <a:spcAft>
                <a:spcPts val="1000"/>
              </a:spcAft>
              <a:defRPr sz="1900"/>
            </a:pPr>
            <a:r>
              <a:t>• Each image is 28 × 28 pixels and grayscale.</a:t>
            </a:r>
          </a:p>
          <a:p>
            <a:pPr>
              <a:spcAft>
                <a:spcPts val="1000"/>
              </a:spcAft>
              <a:defRPr sz="1900"/>
            </a:pPr>
            <a:r>
              <a:t>• Labels represent digits 0 through 9.</a:t>
            </a:r>
          </a:p>
          <a:p>
            <a:pPr>
              <a:spcAft>
                <a:spcPts val="1000"/>
              </a:spcAft>
              <a:defRPr sz="1900"/>
            </a:pPr>
            <a:r>
              <a:t>• Pixel values are normalized by dividing by 255.</a:t>
            </a:r>
          </a:p>
          <a:p>
            <a:pPr>
              <a:spcAft>
                <a:spcPts val="1000"/>
              </a:spcAft>
              <a:defRPr sz="1900"/>
            </a:pPr>
            <a:r>
              <a:t>• External images are converted to grayscale, resized to 28 × 28, normalized, and reshaped.</a:t>
            </a:r>
          </a:p>
        </p:txBody>
      </p:sp>
      <p:pic>
        <p:nvPicPr>
          <p:cNvPr id="4" name="Picture 3" descr="3-dig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828800"/>
            <a:ext cx="3230977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Neural Network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2286000"/>
            <a:ext cx="1600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28×28</a:t>
            </a:r>
          </a:p>
          <a:p>
            <a:pPr algn="ctr">
              <a:defRPr sz="1600"/>
            </a:pPr>
            <a:r>
              <a:t>Input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057400" y="2596896"/>
            <a:ext cx="50292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2743200" y="2286000"/>
            <a:ext cx="1600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Flatten</a:t>
            </a:r>
          </a:p>
          <a:p>
            <a:pPr algn="ctr">
              <a:defRPr sz="1600"/>
            </a:pPr>
            <a:r>
              <a:t>784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389120" y="2596896"/>
            <a:ext cx="50292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074920" y="2286000"/>
            <a:ext cx="1600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Dense</a:t>
            </a:r>
          </a:p>
          <a:p>
            <a:pPr algn="ctr">
              <a:defRPr sz="1600"/>
            </a:pPr>
            <a:r>
              <a:t>50 ReLU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720840" y="2596896"/>
            <a:ext cx="50292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406640" y="2286000"/>
            <a:ext cx="1600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Dense</a:t>
            </a:r>
          </a:p>
          <a:p>
            <a:pPr algn="ctr">
              <a:defRPr sz="1600"/>
            </a:pPr>
            <a:r>
              <a:t>50 ReLU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052559" y="2596896"/>
            <a:ext cx="50292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9738359" y="2286000"/>
            <a:ext cx="1600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Dense</a:t>
            </a:r>
          </a:p>
          <a:p>
            <a:pPr algn="ctr">
              <a:defRPr sz="1600"/>
            </a:pPr>
            <a:r>
              <a:t>10 Sigmoid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16052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/>
            </a:pPr>
            <a:r>
              <a:t>Optimizer: Adam   |   Loss: sparse categorical crossentropy   |   Metric: accuracy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Training Performance</a:t>
            </a:r>
          </a:p>
        </p:txBody>
      </p:sp>
      <p:pic>
        <p:nvPicPr>
          <p:cNvPr id="3" name="Picture 2" descr="training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486400" cy="3072384"/>
          </a:xfrm>
          <a:prstGeom prst="rect">
            <a:avLst/>
          </a:prstGeom>
        </p:spPr>
      </p:pic>
      <p:pic>
        <p:nvPicPr>
          <p:cNvPr id="4" name="Picture 3" descr="training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303520" cy="2969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623560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/>
              <a:t>Training accuracy: 85.14% → 99.16% across 10 epochs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Final training accuracy: 99.16%.</a:t>
            </a:r>
          </a:p>
          <a:p>
            <a:pPr>
              <a:spcAft>
                <a:spcPts val="1000"/>
              </a:spcAft>
              <a:defRPr sz="2000"/>
            </a:pPr>
            <a:r>
              <a:t>• Test accuracy: 97.04% (notebook text reports 97.1%).</a:t>
            </a:r>
          </a:p>
          <a:p>
            <a:pPr>
              <a:spcAft>
                <a:spcPts val="1000"/>
              </a:spcAft>
              <a:defRPr sz="2000"/>
            </a:pPr>
            <a:r>
              <a:t>• Predictions are produced as scores for the 10 classes.</a:t>
            </a:r>
          </a:p>
          <a:p>
            <a:pPr>
              <a:spcAft>
                <a:spcPts val="1000"/>
              </a:spcAft>
              <a:defRPr sz="2000"/>
            </a:pPr>
            <a:r>
              <a:t>• np.argmax converts the highest-scoring class into the predicted digit.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645920"/>
            <a:ext cx="173736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99.16%</a:t>
            </a:r>
          </a:p>
          <a:p>
            <a:pPr algn="ctr">
              <a:defRPr sz="1300"/>
            </a:pPr>
            <a:r>
              <a:t>Training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1645920"/>
            <a:ext cx="173736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97.04%</a:t>
            </a:r>
          </a:p>
          <a:p>
            <a:pPr algn="ctr">
              <a:defRPr sz="1300"/>
            </a:pPr>
            <a:r>
              <a:t>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3657600"/>
            <a:ext cx="173736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10</a:t>
            </a:r>
          </a:p>
          <a:p>
            <a:pPr algn="ctr">
              <a:defRPr sz="1300"/>
            </a:pPr>
            <a:r>
              <a:t>Classes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3657600"/>
            <a:ext cx="173736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28×28</a:t>
            </a:r>
          </a:p>
          <a:p>
            <a:pPr algn="ctr">
              <a:defRPr sz="1300"/>
            </a:pPr>
            <a:r>
              <a:t>Input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Confusion Matrix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02742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66560" y="18288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Diagonal values represent correctly classified samples.</a:t>
            </a:r>
          </a:p>
          <a:p>
            <a:pPr>
              <a:spcAft>
                <a:spcPts val="1000"/>
              </a:spcAft>
              <a:defRPr sz="1800"/>
            </a:pPr>
            <a:r>
              <a:t>• Most predictions lie on the diagonal.</a:t>
            </a:r>
          </a:p>
          <a:p>
            <a:pPr>
              <a:spcAft>
                <a:spcPts val="1000"/>
              </a:spcAft>
              <a:defRPr sz="1800"/>
            </a:pPr>
            <a:r>
              <a:t>• The matrix helps identify which digit classes are most often confused.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Predictive System</a:t>
            </a:r>
          </a:p>
        </p:txBody>
      </p:sp>
      <p:pic>
        <p:nvPicPr>
          <p:cNvPr id="3" name="Picture 2" descr="3-dig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3784858" cy="37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150876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Read image from a user-provided path.</a:t>
            </a:r>
          </a:p>
          <a:p>
            <a:pPr>
              <a:spcAft>
                <a:spcPts val="1000"/>
              </a:spcAft>
              <a:defRPr sz="1800"/>
            </a:pPr>
            <a:r>
              <a:t>• Convert to grayscale.</a:t>
            </a:r>
          </a:p>
          <a:p>
            <a:pPr>
              <a:spcAft>
                <a:spcPts val="1000"/>
              </a:spcAft>
              <a:defRPr sz="1800"/>
            </a:pPr>
            <a:r>
              <a:t>• Resize to 28 × 28.</a:t>
            </a:r>
          </a:p>
          <a:p>
            <a:pPr>
              <a:spcAft>
                <a:spcPts val="1000"/>
              </a:spcAft>
              <a:defRPr sz="1800"/>
            </a:pPr>
            <a:r>
              <a:t>• Normalize and reshape to (1, 28, 28).</a:t>
            </a:r>
          </a:p>
          <a:p>
            <a:pPr>
              <a:spcAft>
                <a:spcPts val="1000"/>
              </a:spcAft>
              <a:defRPr sz="1800"/>
            </a:pPr>
            <a:r>
              <a:t>• Run model.predict() and select the class with np.argmax().</a:t>
            </a:r>
          </a:p>
          <a:p>
            <a:pPr>
              <a:spcAft>
                <a:spcPts val="1000"/>
              </a:spcAft>
              <a:defRPr sz="1800"/>
            </a:pPr>
            <a:r>
              <a:t>• Supplied sample prediction: 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Python — core programming language</a:t>
            </a:r>
          </a:p>
          <a:p>
            <a:pPr>
              <a:spcAft>
                <a:spcPts val="1000"/>
              </a:spcAft>
              <a:defRPr sz="2000"/>
            </a:pPr>
            <a:r>
              <a:t>• TensorFlow / Keras — neural network, training, evaluation and inference</a:t>
            </a:r>
          </a:p>
          <a:p>
            <a:pPr>
              <a:spcAft>
                <a:spcPts val="1000"/>
              </a:spcAft>
              <a:defRPr sz="2000"/>
            </a:pPr>
            <a:r>
              <a:t>• NumPy — numerical operations and reshaping</a:t>
            </a:r>
          </a:p>
          <a:p>
            <a:pPr>
              <a:spcAft>
                <a:spcPts val="1000"/>
              </a:spcAft>
              <a:defRPr sz="2000"/>
            </a:pPr>
            <a:r>
              <a:t>• OpenCV — image loading, grayscale conversion and resizing</a:t>
            </a:r>
          </a:p>
          <a:p>
            <a:pPr>
              <a:spcAft>
                <a:spcPts val="1000"/>
              </a:spcAft>
              <a:defRPr sz="2000"/>
            </a:pPr>
            <a:r>
              <a:t>• Matplotlib + Seaborn — visualization and confusion matrix</a:t>
            </a:r>
          </a:p>
          <a:p>
            <a:pPr>
              <a:spcAft>
                <a:spcPts val="1000"/>
              </a:spcAft>
              <a:defRPr sz="2000"/>
            </a:pPr>
            <a:r>
              <a:t>• Google Colab — notebook execution environment used by the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Limitations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Current model is a fully connected network trained on MNIST-style images.</a:t>
            </a:r>
          </a:p>
          <a:p>
            <a:pPr>
              <a:spcAft>
                <a:spcPts val="1000"/>
              </a:spcAft>
              <a:defRPr sz="1800"/>
            </a:pPr>
            <a:r>
              <a:t>• External images may differ from MNIST in scale, centering, contrast, and background.</a:t>
            </a:r>
          </a:p>
          <a:p>
            <a:pPr>
              <a:spcAft>
                <a:spcPts val="1000"/>
              </a:spcAft>
              <a:defRPr sz="1800"/>
            </a:pPr>
            <a:r>
              <a:t>• Future: use a CNN for stronger spatial feature extraction.</a:t>
            </a:r>
          </a:p>
          <a:p>
            <a:pPr>
              <a:spcAft>
                <a:spcPts val="1000"/>
              </a:spcAft>
              <a:defRPr sz="1800"/>
            </a:pPr>
            <a:r>
              <a:t>• Future: add robust image preprocessing and model save/load.</a:t>
            </a:r>
          </a:p>
          <a:p>
            <a:pPr>
              <a:spcAft>
                <a:spcPts val="1000"/>
              </a:spcAft>
              <a:defRPr sz="1800"/>
            </a:pPr>
            <a:r>
              <a:t>• Future: build a web UI or API for real-time digit prediction.</a:t>
            </a:r>
          </a:p>
          <a:p>
            <a:pPr>
              <a:spcAft>
                <a:spcPts val="1000"/>
              </a:spcAft>
              <a:defRPr sz="1800"/>
            </a:pPr>
            <a:r>
              <a:t>• Future: add precision, recall, and F1-score reporting.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• The project demonstrates a complete deep-learning classification workflow.</a:t>
            </a:r>
          </a:p>
          <a:p>
            <a:pPr>
              <a:spcAft>
                <a:spcPts val="1000"/>
              </a:spcAft>
              <a:defRPr sz="2100"/>
            </a:pPr>
            <a:r>
              <a:t>• The neural network reaches approximately 97.04% accuracy on the MNIST test set.</a:t>
            </a:r>
          </a:p>
          <a:p>
            <a:pPr>
              <a:spcAft>
                <a:spcPts val="1000"/>
              </a:spcAft>
              <a:defRPr sz="2100"/>
            </a:pPr>
            <a:r>
              <a:t>• A confusion matrix provides class-level error analysis.</a:t>
            </a:r>
          </a:p>
          <a:p>
            <a:pPr>
              <a:spcAft>
                <a:spcPts val="1000"/>
              </a:spcAft>
              <a:defRPr sz="2100"/>
            </a:pPr>
            <a:r>
              <a:t>• The predictive pipeline successfully recognizes the supplied sample as digit 3.</a:t>
            </a:r>
          </a:p>
          <a:p>
            <a:pPr>
              <a:spcAft>
                <a:spcPts val="1000"/>
              </a:spcAft>
              <a:defRPr sz="2100"/>
            </a:pPr>
            <a:r>
              <a:t>• The project can be extended into a CNN-based or web-deployed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
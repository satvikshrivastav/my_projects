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notesMasterIdLst>
    <p:notesMasterId r:id="rId14"/>
  </p:notesMasterIdLst>
  <p:handoutMasterIdLst>
    <p:handoutMasterId r:id="rId15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8"/>
  </p:normalViewPr>
  <p:slideViewPr>
    <p:cSldViewPr snapToGrid="0" showGuides="1">
      <p:cViewPr varScale="1">
        <p:scale>
          <a:sx n="65" d="100"/>
          <a:sy n="65" d="100"/>
        </p:scale>
        <p:origin x="72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2A1094A-7CFF-C9FA-803A-A08906ACAB28}"/>
              </a:ext>
            </a:extLst>
          </p:cNvPr>
          <p:cNvSpPr txBox="1"/>
          <p:nvPr/>
        </p:nvSpPr>
        <p:spPr>
          <a:xfrm>
            <a:off x="2517058" y="2231524"/>
            <a:ext cx="7315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000" b="1" dirty="0">
                <a:effectLst/>
              </a:rPr>
              <a:t>Loan Status Prediction Project Analysis</a:t>
            </a:r>
            <a:endParaRPr lang="en-IN" sz="5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7F6B2C-28A4-E525-FB04-4F391766BE4B}"/>
              </a:ext>
            </a:extLst>
          </p:cNvPr>
          <p:cNvSpPr txBox="1"/>
          <p:nvPr/>
        </p:nvSpPr>
        <p:spPr>
          <a:xfrm>
            <a:off x="2153264" y="1797784"/>
            <a:ext cx="86032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1 Smart Insights on Loan Prediction Model Development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303606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CF22EE-A1E2-DA6C-EA86-B41D50D2A43B}"/>
              </a:ext>
            </a:extLst>
          </p:cNvPr>
          <p:cNvSpPr txBox="1"/>
          <p:nvPr/>
        </p:nvSpPr>
        <p:spPr>
          <a:xfrm>
            <a:off x="589935" y="244535"/>
            <a:ext cx="107171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Project Overview &amp; Objectives</a:t>
            </a:r>
            <a:endParaRPr lang="en-IN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C5412-DF7E-6FB7-4ACA-E189DBBBE6B5}"/>
              </a:ext>
            </a:extLst>
          </p:cNvPr>
          <p:cNvSpPr txBox="1"/>
          <p:nvPr/>
        </p:nvSpPr>
        <p:spPr>
          <a:xfrm>
            <a:off x="176980" y="2305467"/>
            <a:ext cx="25662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Predict Loan Status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E72E3-2168-B49A-3667-04D6E0E2C2F8}"/>
              </a:ext>
            </a:extLst>
          </p:cNvPr>
          <p:cNvSpPr txBox="1"/>
          <p:nvPr/>
        </p:nvSpPr>
        <p:spPr>
          <a:xfrm>
            <a:off x="176980" y="3027940"/>
            <a:ext cx="27432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</a:rPr>
              <a:t>The core objective is to predict whether a loan application will be approved or not, framing it as a binary classification challenge.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722AB-E72E-FCAD-EBB7-4CB00869F6A9}"/>
              </a:ext>
            </a:extLst>
          </p:cNvPr>
          <p:cNvSpPr txBox="1"/>
          <p:nvPr/>
        </p:nvSpPr>
        <p:spPr>
          <a:xfrm>
            <a:off x="3293805" y="2310186"/>
            <a:ext cx="2123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Dataset Insights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511BA-2E9D-8732-9045-349CC351EF1C}"/>
              </a:ext>
            </a:extLst>
          </p:cNvPr>
          <p:cNvSpPr txBox="1"/>
          <p:nvPr/>
        </p:nvSpPr>
        <p:spPr>
          <a:xfrm>
            <a:off x="6361473" y="2305467"/>
            <a:ext cx="24383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Problem Statement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1AA6D-8A98-75D0-B715-D34E4CB2611C}"/>
              </a:ext>
            </a:extLst>
          </p:cNvPr>
          <p:cNvSpPr txBox="1"/>
          <p:nvPr/>
        </p:nvSpPr>
        <p:spPr>
          <a:xfrm>
            <a:off x="9124335" y="2308024"/>
            <a:ext cx="2566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Model Building Goal</a:t>
            </a:r>
            <a:endParaRPr lang="en-IN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7D0BAE-B336-3F42-9C88-1FAE7F5505FB}"/>
              </a:ext>
            </a:extLst>
          </p:cNvPr>
          <p:cNvSpPr txBox="1"/>
          <p:nvPr/>
        </p:nvSpPr>
        <p:spPr>
          <a:xfrm>
            <a:off x="3293805" y="3032659"/>
            <a:ext cx="25367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</a:rPr>
              <a:t>We're working with a dataset of 614 records and 13 columns, which shrinks to 480 records after handling missing values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03D064-5938-A546-DF41-FAE11B8B12E4}"/>
              </a:ext>
            </a:extLst>
          </p:cNvPr>
          <p:cNvSpPr txBox="1"/>
          <p:nvPr/>
        </p:nvSpPr>
        <p:spPr>
          <a:xfrm>
            <a:off x="6361472" y="3027940"/>
            <a:ext cx="23597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</a:rPr>
              <a:t>Loan decisions hinge on various applicant details, including financial, demographic, credit, and property information.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C4B92B-6F7B-2052-0E48-ED0B14C41170}"/>
              </a:ext>
            </a:extLst>
          </p:cNvPr>
          <p:cNvSpPr txBox="1"/>
          <p:nvPr/>
        </p:nvSpPr>
        <p:spPr>
          <a:xfrm>
            <a:off x="9016180" y="3027940"/>
            <a:ext cx="25662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</a:rPr>
              <a:t>The aim is to construct a robust machine learning model using historical loan application data, ensuring data cleanliness and proper encoding.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248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EE82F6-F26F-54E9-50CD-5304759D5E67}"/>
              </a:ext>
            </a:extLst>
          </p:cNvPr>
          <p:cNvSpPr txBox="1"/>
          <p:nvPr/>
        </p:nvSpPr>
        <p:spPr>
          <a:xfrm>
            <a:off x="167148" y="231968"/>
            <a:ext cx="996991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Data Preparation &amp; Exploration</a:t>
            </a:r>
            <a:endParaRPr lang="en-IN" sz="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EFFD0-C16D-F462-4F46-153E6EFCAB02}"/>
              </a:ext>
            </a:extLst>
          </p:cNvPr>
          <p:cNvSpPr txBox="1"/>
          <p:nvPr/>
        </p:nvSpPr>
        <p:spPr>
          <a:xfrm>
            <a:off x="255638" y="1976411"/>
            <a:ext cx="2959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Target Variable Focus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9B2DC-70E0-DF3C-8C8F-7A5435DB1606}"/>
              </a:ext>
            </a:extLst>
          </p:cNvPr>
          <p:cNvSpPr txBox="1"/>
          <p:nvPr/>
        </p:nvSpPr>
        <p:spPr>
          <a:xfrm>
            <a:off x="255638" y="2455211"/>
            <a:ext cx="4552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'</a:t>
            </a:r>
            <a:r>
              <a:rPr lang="en-IN" sz="1800" dirty="0" err="1">
                <a:effectLst/>
              </a:rPr>
              <a:t>LoanStatus</a:t>
            </a:r>
            <a:r>
              <a:rPr lang="en-IN" sz="1800" dirty="0">
                <a:effectLst/>
              </a:rPr>
              <a:t>' is our key target, with 'Y' for approved and 'N' for not approved, which we'll encode numerically.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B6B2C-9ED9-C6B4-11D3-2A3A385A118E}"/>
              </a:ext>
            </a:extLst>
          </p:cNvPr>
          <p:cNvSpPr txBox="1"/>
          <p:nvPr/>
        </p:nvSpPr>
        <p:spPr>
          <a:xfrm>
            <a:off x="167148" y="4740010"/>
            <a:ext cx="4483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Missing values were efficiently managed by dropping rows, ensuring a clean dataset for model training.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454289-2F72-1DAB-209C-1493B2FC8C54}"/>
              </a:ext>
            </a:extLst>
          </p:cNvPr>
          <p:cNvSpPr txBox="1"/>
          <p:nvPr/>
        </p:nvSpPr>
        <p:spPr>
          <a:xfrm>
            <a:off x="255638" y="4180405"/>
            <a:ext cx="2930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Handling Missing Values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3DE1BD-AC59-7162-78AD-CA4CB09056F7}"/>
              </a:ext>
            </a:extLst>
          </p:cNvPr>
          <p:cNvSpPr txBox="1"/>
          <p:nvPr/>
        </p:nvSpPr>
        <p:spPr>
          <a:xfrm>
            <a:off x="7020232" y="1746934"/>
            <a:ext cx="3175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Key Applicant Data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E3E28B-CDB0-7A84-A2C8-9BF73F4E60BA}"/>
              </a:ext>
            </a:extLst>
          </p:cNvPr>
          <p:cNvSpPr txBox="1"/>
          <p:nvPr/>
        </p:nvSpPr>
        <p:spPr>
          <a:xfrm>
            <a:off x="7020232" y="2316711"/>
            <a:ext cx="36674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Applicant information like Gender, Married status, Dependents, and Education are crucial features for our model.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E9C689-E3E6-88DC-1595-87365BA3D78D}"/>
              </a:ext>
            </a:extLst>
          </p:cNvPr>
          <p:cNvSpPr txBox="1"/>
          <p:nvPr/>
        </p:nvSpPr>
        <p:spPr>
          <a:xfrm>
            <a:off x="7020232" y="4740010"/>
            <a:ext cx="426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Categorical variables were meticulously converted into numerical representations to prepare them for the machine learning algorithm.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1165AF-BCB5-C65C-D4AE-9404539318BC}"/>
              </a:ext>
            </a:extLst>
          </p:cNvPr>
          <p:cNvSpPr txBox="1"/>
          <p:nvPr/>
        </p:nvSpPr>
        <p:spPr>
          <a:xfrm>
            <a:off x="7020232" y="3995739"/>
            <a:ext cx="252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Categorical Encoding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4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12B912-8AA1-18BF-08D1-7397697AFA7B}"/>
              </a:ext>
            </a:extLst>
          </p:cNvPr>
          <p:cNvSpPr txBox="1"/>
          <p:nvPr/>
        </p:nvSpPr>
        <p:spPr>
          <a:xfrm>
            <a:off x="540775" y="431348"/>
            <a:ext cx="783630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Model Training &amp; Evaluation</a:t>
            </a:r>
            <a:endParaRPr lang="en-IN" sz="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89A44-77F1-633B-A5DA-C03C524C9199}"/>
              </a:ext>
            </a:extLst>
          </p:cNvPr>
          <p:cNvSpPr txBox="1"/>
          <p:nvPr/>
        </p:nvSpPr>
        <p:spPr>
          <a:xfrm>
            <a:off x="258097" y="1741217"/>
            <a:ext cx="2428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SVM Algorithm Choice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AEAA99-7DC6-D5B6-81CE-84F9CF0A6C64}"/>
              </a:ext>
            </a:extLst>
          </p:cNvPr>
          <p:cNvSpPr txBox="1"/>
          <p:nvPr/>
        </p:nvSpPr>
        <p:spPr>
          <a:xfrm>
            <a:off x="258097" y="3979678"/>
            <a:ext cx="1632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Train-Test Split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05B3C-404C-B500-7C85-82356B64ECBE}"/>
              </a:ext>
            </a:extLst>
          </p:cNvPr>
          <p:cNvSpPr txBox="1"/>
          <p:nvPr/>
        </p:nvSpPr>
        <p:spPr>
          <a:xfrm>
            <a:off x="6936658" y="1747272"/>
            <a:ext cx="1759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Accuracy Score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3BDB6-8140-65B0-42BD-5E7C02C35C72}"/>
              </a:ext>
            </a:extLst>
          </p:cNvPr>
          <p:cNvSpPr txBox="1"/>
          <p:nvPr/>
        </p:nvSpPr>
        <p:spPr>
          <a:xfrm>
            <a:off x="7032519" y="3979678"/>
            <a:ext cx="2349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Future Enhancements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17117-908E-99FF-52EF-CF6F9620922F}"/>
              </a:ext>
            </a:extLst>
          </p:cNvPr>
          <p:cNvSpPr txBox="1"/>
          <p:nvPr/>
        </p:nvSpPr>
        <p:spPr>
          <a:xfrm>
            <a:off x="258097" y="2267068"/>
            <a:ext cx="48841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We've selected the Support Vector Machine (SVM) with a Linear Kernel, implemented via </a:t>
            </a:r>
            <a:r>
              <a:rPr lang="en-IN" sz="1800" dirty="0" err="1">
                <a:effectLst/>
              </a:rPr>
              <a:t>sklearn.svm.SVC</a:t>
            </a:r>
            <a:r>
              <a:rPr lang="en-IN" sz="1800" dirty="0">
                <a:effectLst/>
              </a:rPr>
              <a:t>, for this classification task.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B5651C-7FFD-DD29-74D0-3B385F4D4A7A}"/>
              </a:ext>
            </a:extLst>
          </p:cNvPr>
          <p:cNvSpPr txBox="1"/>
          <p:nvPr/>
        </p:nvSpPr>
        <p:spPr>
          <a:xfrm>
            <a:off x="258097" y="4706137"/>
            <a:ext cx="41664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cleaned dataset was split into a training set of 432 records and a testing set of 48 records, using a stratified approach.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2D8302-10AF-847C-8D26-DE3EB91401DF}"/>
              </a:ext>
            </a:extLst>
          </p:cNvPr>
          <p:cNvSpPr txBox="1"/>
          <p:nvPr/>
        </p:nvSpPr>
        <p:spPr>
          <a:xfrm>
            <a:off x="6824812" y="2267068"/>
            <a:ext cx="51152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Our primary evaluation metric is the Accuracy Score, which revealed a training accuracy of 79.86% and a testing accuracy of 83.33%.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607B4C-7E03-BFE1-D370-042858F97DE8}"/>
              </a:ext>
            </a:extLst>
          </p:cNvPr>
          <p:cNvSpPr txBox="1"/>
          <p:nvPr/>
        </p:nvSpPr>
        <p:spPr>
          <a:xfrm>
            <a:off x="6936658" y="4706136"/>
            <a:ext cx="441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Future scope includes exploring advanced imputation techniques, comparing other classifiers, and deploying the model for practical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590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90F328-9D05-4ED7-ECA5-26FE88A12D2B}"/>
              </a:ext>
            </a:extLst>
          </p:cNvPr>
          <p:cNvSpPr txBox="1"/>
          <p:nvPr/>
        </p:nvSpPr>
        <p:spPr>
          <a:xfrm>
            <a:off x="501444" y="369617"/>
            <a:ext cx="123296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Loan Prediction Project Analysis Overview</a:t>
            </a:r>
            <a:endParaRPr lang="en-IN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13FB8-C8EA-EE55-4B74-F28B9880D784}"/>
              </a:ext>
            </a:extLst>
          </p:cNvPr>
          <p:cNvSpPr txBox="1"/>
          <p:nvPr/>
        </p:nvSpPr>
        <p:spPr>
          <a:xfrm>
            <a:off x="1170036" y="5621494"/>
            <a:ext cx="106483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000" b="1" dirty="0">
                <a:effectLst/>
              </a:rPr>
              <a:t>Key Aspects of Loan Prediction Project(Effectiveness Score (%))</a:t>
            </a:r>
            <a:endParaRPr lang="en-IN" sz="3000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287A3C-4B86-208D-0205-7C00950D7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1309875"/>
            <a:ext cx="7885472" cy="405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9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2BFA2-A9CB-0B6D-DAE4-74FDC1DE7C67}"/>
              </a:ext>
            </a:extLst>
          </p:cNvPr>
          <p:cNvSpPr txBox="1"/>
          <p:nvPr/>
        </p:nvSpPr>
        <p:spPr>
          <a:xfrm>
            <a:off x="599768" y="1305147"/>
            <a:ext cx="110612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2 Evaluating Machine Learning Classification Project Outcomes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3929712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C54B6-F61C-3852-B43F-A1B59778C0A8}"/>
              </a:ext>
            </a:extLst>
          </p:cNvPr>
          <p:cNvSpPr txBox="1"/>
          <p:nvPr/>
        </p:nvSpPr>
        <p:spPr>
          <a:xfrm>
            <a:off x="334297" y="338580"/>
            <a:ext cx="1185770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Project Overview &amp; Objectives</a:t>
            </a:r>
            <a:endParaRPr lang="en-IN" sz="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2B9C2-DEF1-D163-E413-B0AEFFB59368}"/>
              </a:ext>
            </a:extLst>
          </p:cNvPr>
          <p:cNvSpPr txBox="1"/>
          <p:nvPr/>
        </p:nvSpPr>
        <p:spPr>
          <a:xfrm>
            <a:off x="491613" y="1393623"/>
            <a:ext cx="3215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Predict Loan Approval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31A0E-640A-62C7-9339-7237492074AD}"/>
              </a:ext>
            </a:extLst>
          </p:cNvPr>
          <p:cNvSpPr txBox="1"/>
          <p:nvPr/>
        </p:nvSpPr>
        <p:spPr>
          <a:xfrm>
            <a:off x="334297" y="2013492"/>
            <a:ext cx="45621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primary objective is to predict whether a loan application will be approved or not approved, framing it as a binary classification task.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C00AE-0035-BDA4-1F3A-B16B28933123}"/>
              </a:ext>
            </a:extLst>
          </p:cNvPr>
          <p:cNvSpPr txBox="1"/>
          <p:nvPr/>
        </p:nvSpPr>
        <p:spPr>
          <a:xfrm>
            <a:off x="334297" y="4058165"/>
            <a:ext cx="3018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</a:rPr>
              <a:t>Clean &amp; Preprocess Data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67A05-D119-06DB-D3E8-775DE21F1F96}"/>
              </a:ext>
            </a:extLst>
          </p:cNvPr>
          <p:cNvSpPr txBox="1"/>
          <p:nvPr/>
        </p:nvSpPr>
        <p:spPr>
          <a:xfrm>
            <a:off x="334297" y="4587214"/>
            <a:ext cx="45621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dataset undergoes cleaning and preprocessing, including handling missing values and encoding categorical variables into numerical forms.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B38309-10EF-BAE4-DC89-689A610DCAE8}"/>
              </a:ext>
            </a:extLst>
          </p:cNvPr>
          <p:cNvSpPr txBox="1"/>
          <p:nvPr/>
        </p:nvSpPr>
        <p:spPr>
          <a:xfrm>
            <a:off x="7089058" y="1393623"/>
            <a:ext cx="2969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Build ML Model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22C38D-344F-9CE2-0766-9D68E2F85147}"/>
              </a:ext>
            </a:extLst>
          </p:cNvPr>
          <p:cNvSpPr txBox="1"/>
          <p:nvPr/>
        </p:nvSpPr>
        <p:spPr>
          <a:xfrm>
            <a:off x="7089058" y="1886522"/>
            <a:ext cx="41492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A machine learning model is constructed from historical loan application data to automate the decision-making process.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5C08ED-B4F1-F3B8-5716-C4F3C696FFAE}"/>
              </a:ext>
            </a:extLst>
          </p:cNvPr>
          <p:cNvSpPr txBox="1"/>
          <p:nvPr/>
        </p:nvSpPr>
        <p:spPr>
          <a:xfrm>
            <a:off x="7089058" y="4025927"/>
            <a:ext cx="304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Dataset Characteristics</a:t>
            </a:r>
            <a:endParaRPr lang="en-IN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F80D5F-4630-DB71-0D32-328909E89092}"/>
              </a:ext>
            </a:extLst>
          </p:cNvPr>
          <p:cNvSpPr txBox="1"/>
          <p:nvPr/>
        </p:nvSpPr>
        <p:spPr>
          <a:xfrm>
            <a:off x="7089058" y="4587214"/>
            <a:ext cx="41492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initial dataset comprises 614 records and 13 columns, reduced to 480 records and 11 features after cleaning.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97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4D5641-ABC7-D2F7-D0B5-58F3F572DD55}"/>
              </a:ext>
            </a:extLst>
          </p:cNvPr>
          <p:cNvSpPr txBox="1"/>
          <p:nvPr/>
        </p:nvSpPr>
        <p:spPr>
          <a:xfrm>
            <a:off x="412954" y="362522"/>
            <a:ext cx="107761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Model Training &amp; Evaluation</a:t>
            </a:r>
            <a:endParaRPr lang="en-IN" sz="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1B7CB-2BB7-FD52-A494-DDC5C8035F3B}"/>
              </a:ext>
            </a:extLst>
          </p:cNvPr>
          <p:cNvSpPr txBox="1"/>
          <p:nvPr/>
        </p:nvSpPr>
        <p:spPr>
          <a:xfrm>
            <a:off x="412955" y="1246139"/>
            <a:ext cx="3372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SVM Algorithm Used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91B5F3-2F7D-9313-EA70-6F4D16580126}"/>
              </a:ext>
            </a:extLst>
          </p:cNvPr>
          <p:cNvSpPr txBox="1"/>
          <p:nvPr/>
        </p:nvSpPr>
        <p:spPr>
          <a:xfrm>
            <a:off x="422787" y="1988995"/>
            <a:ext cx="50734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Support Vector Machine (SVM) with a linear kernel, implemented via </a:t>
            </a:r>
            <a:r>
              <a:rPr lang="en-IN" dirty="0" err="1"/>
              <a:t>sklearn.svm.SVC</a:t>
            </a:r>
            <a:r>
              <a:rPr lang="en-IN" dirty="0"/>
              <a:t>, is the chosen algorithm for classification.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9568EC-F584-6662-15EC-47679CC66C1A}"/>
              </a:ext>
            </a:extLst>
          </p:cNvPr>
          <p:cNvSpPr txBox="1"/>
          <p:nvPr/>
        </p:nvSpPr>
        <p:spPr>
          <a:xfrm>
            <a:off x="422787" y="4410025"/>
            <a:ext cx="5073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cleaned dataset is split into a training set (432 records) and a testing set (48 records) using a stratified 10% test size.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6DEAC1-EDBD-B928-EF61-C4C8CB83C7DB}"/>
              </a:ext>
            </a:extLst>
          </p:cNvPr>
          <p:cNvSpPr txBox="1"/>
          <p:nvPr/>
        </p:nvSpPr>
        <p:spPr>
          <a:xfrm>
            <a:off x="7030061" y="1988995"/>
            <a:ext cx="4994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model's performance is evaluated using the Accuracy Score, yielding a training accuracy of 79.86% and a testing accuracy of 83.33%.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87C2F7-9614-6114-A07C-2B2C6BBD8A92}"/>
              </a:ext>
            </a:extLst>
          </p:cNvPr>
          <p:cNvSpPr txBox="1"/>
          <p:nvPr/>
        </p:nvSpPr>
        <p:spPr>
          <a:xfrm>
            <a:off x="6961235" y="4410025"/>
            <a:ext cx="45523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current project's evaluation is limited to accuracy, lacking precision, recall, F1-score, ROC-AUC, or confusion matrix analysis.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EAD373-DA3F-9858-E718-19B3FFD58B05}"/>
              </a:ext>
            </a:extLst>
          </p:cNvPr>
          <p:cNvSpPr txBox="1"/>
          <p:nvPr/>
        </p:nvSpPr>
        <p:spPr>
          <a:xfrm>
            <a:off x="422787" y="3783971"/>
            <a:ext cx="2330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Train-Test Split</a:t>
            </a:r>
            <a:endParaRPr lang="en-IN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4C331B-9D2E-1123-DE90-1783D498DB9F}"/>
              </a:ext>
            </a:extLst>
          </p:cNvPr>
          <p:cNvSpPr txBox="1"/>
          <p:nvPr/>
        </p:nvSpPr>
        <p:spPr>
          <a:xfrm>
            <a:off x="7079219" y="1246139"/>
            <a:ext cx="3293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Accuracy Score Metric</a:t>
            </a:r>
            <a:endParaRPr lang="en-IN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1B6AC3-5A6E-2A00-E95D-BA1105E23647}"/>
              </a:ext>
            </a:extLst>
          </p:cNvPr>
          <p:cNvSpPr txBox="1"/>
          <p:nvPr/>
        </p:nvSpPr>
        <p:spPr>
          <a:xfrm>
            <a:off x="7079219" y="3720443"/>
            <a:ext cx="3401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Limited Evaluation Metrics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9037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4E549A-BE2E-CE03-9569-FDB7DD20F58C}"/>
              </a:ext>
            </a:extLst>
          </p:cNvPr>
          <p:cNvSpPr txBox="1"/>
          <p:nvPr/>
        </p:nvSpPr>
        <p:spPr>
          <a:xfrm>
            <a:off x="186812" y="199681"/>
            <a:ext cx="109039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Conclusion &amp; Future Scope</a:t>
            </a:r>
            <a:endParaRPr lang="en-IN" sz="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EFE26-4FAA-FDAB-235C-E1234FEA37EF}"/>
              </a:ext>
            </a:extLst>
          </p:cNvPr>
          <p:cNvSpPr txBox="1"/>
          <p:nvPr/>
        </p:nvSpPr>
        <p:spPr>
          <a:xfrm>
            <a:off x="511277" y="1246140"/>
            <a:ext cx="3333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End-to-End Workflow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94DA9-D872-34FE-4467-B0583B13517E}"/>
              </a:ext>
            </a:extLst>
          </p:cNvPr>
          <p:cNvSpPr txBox="1"/>
          <p:nvPr/>
        </p:nvSpPr>
        <p:spPr>
          <a:xfrm>
            <a:off x="511277" y="1984843"/>
            <a:ext cx="44441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This project successfully demonstrates an introductory, end-to-end machine learning classification workflow from data to model.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AB4CB-ED4A-897B-3AE8-B8A603725A4F}"/>
              </a:ext>
            </a:extLst>
          </p:cNvPr>
          <p:cNvSpPr txBox="1"/>
          <p:nvPr/>
        </p:nvSpPr>
        <p:spPr>
          <a:xfrm>
            <a:off x="442451" y="3649746"/>
            <a:ext cx="35199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Achieved Accuracy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2E7DE-EA23-5C88-4CF9-2307D8F45D9A}"/>
              </a:ext>
            </a:extLst>
          </p:cNvPr>
          <p:cNvSpPr txBox="1"/>
          <p:nvPr/>
        </p:nvSpPr>
        <p:spPr>
          <a:xfrm>
            <a:off x="442451" y="4296135"/>
            <a:ext cx="43556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The linear SVM model achieved a respectable 83.33% accuracy on the held-out test set, indicating its predictive capability.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67612D-8A3E-A015-EA8F-2D4EED28AF4B}"/>
              </a:ext>
            </a:extLst>
          </p:cNvPr>
          <p:cNvSpPr txBox="1"/>
          <p:nvPr/>
        </p:nvSpPr>
        <p:spPr>
          <a:xfrm>
            <a:off x="6607277" y="1246140"/>
            <a:ext cx="3647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Improvement Areas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25080F-E1AF-56A8-E4C0-979D0EF0BEE7}"/>
              </a:ext>
            </a:extLst>
          </p:cNvPr>
          <p:cNvSpPr txBox="1"/>
          <p:nvPr/>
        </p:nvSpPr>
        <p:spPr>
          <a:xfrm>
            <a:off x="6607277" y="1846343"/>
            <a:ext cx="46506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Future enhancements include implementing missing value imputation, creating reusable preprocessing pipelines, and comparing additional classifiers.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1A54A3-C6C2-4866-9984-F16CF3BB9A00}"/>
              </a:ext>
            </a:extLst>
          </p:cNvPr>
          <p:cNvSpPr txBox="1"/>
          <p:nvPr/>
        </p:nvSpPr>
        <p:spPr>
          <a:xfrm>
            <a:off x="6607277" y="3649746"/>
            <a:ext cx="312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effectLst/>
              </a:rPr>
              <a:t>Further Model Refinement</a:t>
            </a:r>
            <a:endParaRPr lang="en-IN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D674-74ED-F4B4-B1F1-7A595ECB5A48}"/>
              </a:ext>
            </a:extLst>
          </p:cNvPr>
          <p:cNvSpPr txBox="1"/>
          <p:nvPr/>
        </p:nvSpPr>
        <p:spPr>
          <a:xfrm>
            <a:off x="6607277" y="4296135"/>
            <a:ext cx="48079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Additional steps involve hyperparameter tuning, incorporating cross-validation, and potentially deploying the model as a web application or API.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976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9736BD-5C6C-6D02-0BA2-2FDC4A2626A2}"/>
              </a:ext>
            </a:extLst>
          </p:cNvPr>
          <p:cNvSpPr txBox="1"/>
          <p:nvPr/>
        </p:nvSpPr>
        <p:spPr>
          <a:xfrm>
            <a:off x="93406" y="135109"/>
            <a:ext cx="107417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000" b="1" dirty="0">
                <a:effectLst/>
              </a:rPr>
              <a:t>Loan Prediction Model Development &amp; Evaluation</a:t>
            </a:r>
            <a:endParaRPr lang="en-IN" sz="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F3B59-4708-9195-E176-8B49823D8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12" y="1766325"/>
            <a:ext cx="9462185" cy="39787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B08977-CA5C-EBBF-AB77-B077D5655632}"/>
              </a:ext>
            </a:extLst>
          </p:cNvPr>
          <p:cNvSpPr txBox="1"/>
          <p:nvPr/>
        </p:nvSpPr>
        <p:spPr>
          <a:xfrm>
            <a:off x="1596378" y="5783526"/>
            <a:ext cx="8495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effectLst/>
              </a:rPr>
              <a:t>Key Aspects of Loan Prediction Model Performance(Effectiveness Score (%))</a:t>
            </a:r>
            <a:endParaRPr lang="en-IN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5005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9DFF12-830C-6B80-2A98-B8057EE9A41C}"/>
              </a:ext>
            </a:extLst>
          </p:cNvPr>
          <p:cNvSpPr txBox="1"/>
          <p:nvPr/>
        </p:nvSpPr>
        <p:spPr>
          <a:xfrm>
            <a:off x="3342967" y="2567226"/>
            <a:ext cx="550606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000" b="1" dirty="0">
                <a:effectLst/>
              </a:rPr>
              <a:t>Thank You</a:t>
            </a:r>
            <a:endParaRPr lang="en-IN" sz="5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14643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{79AD426C-0145-420A-8939-D290ABBDB635}76eb6e63-359a-49aa-b46c-7c5b67ea33bb-TF1ddfefa5-03ef-44f0-b9f8-5e27349af6c5_win32</Template>
  <TotalTime>36</TotalTime>
  <Words>663</Words>
  <Application>Microsoft Office PowerPoint</Application>
  <PresentationFormat>Widescreen</PresentationFormat>
  <Paragraphs>63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Light</vt:lpstr>
      <vt:lpstr>Arial</vt:lpstr>
      <vt:lpstr>Chamberi Super Display</vt:lpstr>
      <vt:lpstr>Prismatic polygons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satvik shrivastava</dc:creator>
  <cp:lastModifiedBy>satvik shrivastava</cp:lastModifiedBy>
  <cp:revision>1</cp:revision>
  <dcterms:created xsi:type="dcterms:W3CDTF">2026-09-12T12:56:28Z</dcterms:created>
  <dcterms:modified xsi:type="dcterms:W3CDTF">2026-09-12T13:32:50Z</dcterms:modified>
</cp:coreProperties>
</file>